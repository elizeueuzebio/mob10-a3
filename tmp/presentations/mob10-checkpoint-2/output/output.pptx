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dffac44f84768" /><Relationship Type="http://schemas.openxmlformats.org/officeDocument/2006/relationships/extended-properties" Target="/docProps/app.xml" Id="Rf9ac7b813d5e440d" /><Relationship Type="http://schemas.openxmlformats.org/officeDocument/2006/relationships/officeDocument" Target="/ppt/presentation.xml" Id="R78801449afd145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ee3e2d6d634113"/>
  </p:sldMasterIdLst>
  <p:notesMasterIdLst>
    <p:notesMasterId xmlns:r="http://schemas.openxmlformats.org/officeDocument/2006/relationships" r:id="R0601c9c3ba4f4ed9"/>
  </p:notesMasterIdLst>
  <p:sldIdLst>
    <p:sldId xmlns:r="http://schemas.openxmlformats.org/officeDocument/2006/relationships" id="256" r:id="Rf8923646b4f44350"/>
    <p:sldId xmlns:r="http://schemas.openxmlformats.org/officeDocument/2006/relationships" id="257" r:id="Rf924810298ec4f31"/>
    <p:sldId xmlns:r="http://schemas.openxmlformats.org/officeDocument/2006/relationships" id="258" r:id="R93fab123c12747c2"/>
    <p:sldId xmlns:r="http://schemas.openxmlformats.org/officeDocument/2006/relationships" id="259" r:id="R7f6760abd7fc4334"/>
    <p:sldId xmlns:r="http://schemas.openxmlformats.org/officeDocument/2006/relationships" id="260" r:id="R3f689fea8a2549c0"/>
    <p:sldId xmlns:r="http://schemas.openxmlformats.org/officeDocument/2006/relationships" id="261" r:id="Re49a68958a7b4e5e"/>
    <p:sldId xmlns:r="http://schemas.openxmlformats.org/officeDocument/2006/relationships" id="262" r:id="R86627ec38cd94d8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e3e2d6d634113" /><Relationship Type="http://schemas.openxmlformats.org/officeDocument/2006/relationships/theme" Target="/ppt/theme/theme1.xml" Id="R6c2981c9469f4bdb" /><Relationship Type="http://schemas.openxmlformats.org/officeDocument/2006/relationships/notesMaster" Target="/ppt/notesMasters/notesMaster1.xml" Id="R0601c9c3ba4f4ed9" /><Relationship Type="http://schemas.openxmlformats.org/officeDocument/2006/relationships/presProps" Target="/ppt/presProps.xml" Id="R0ffae50293564eaa" /><Relationship Type="http://schemas.openxmlformats.org/officeDocument/2006/relationships/viewProps" Target="/ppt/viewProps.xml" Id="R0e64a60afc794b70" /><Relationship Type="http://schemas.openxmlformats.org/officeDocument/2006/relationships/tableStyles" Target="/ppt/tableStyles.xml" Id="Rdadad9696d1c43d1" /><Relationship Type="http://schemas.openxmlformats.org/officeDocument/2006/relationships/slide" Target="/ppt/slides/slide1.xml" Id="Rf8923646b4f44350" /><Relationship Type="http://schemas.openxmlformats.org/officeDocument/2006/relationships/slide" Target="/ppt/slides/slide2.xml" Id="Rf924810298ec4f31" /><Relationship Type="http://schemas.openxmlformats.org/officeDocument/2006/relationships/slide" Target="/ppt/slides/slide3.xml" Id="R93fab123c12747c2" /><Relationship Type="http://schemas.openxmlformats.org/officeDocument/2006/relationships/slide" Target="/ppt/slides/slide4.xml" Id="R7f6760abd7fc4334" /><Relationship Type="http://schemas.openxmlformats.org/officeDocument/2006/relationships/slide" Target="/ppt/slides/slide5.xml" Id="R3f689fea8a2549c0" /><Relationship Type="http://schemas.openxmlformats.org/officeDocument/2006/relationships/slide" Target="/ppt/slides/slide6.xml" Id="Re49a68958a7b4e5e" /><Relationship Type="http://schemas.openxmlformats.org/officeDocument/2006/relationships/slide" Target="/ppt/slides/slide7.xml" Id="R86627ec38cd94d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272c1d7a26c45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944397b4e421f" /><Relationship Type="http://schemas.openxmlformats.org/officeDocument/2006/relationships/notesMaster" Target="/ppt/notesMasters/notesMaster1.xml" Id="Rebdf7f8ff1f547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4dcd760ee54d18" /><Relationship Type="http://schemas.openxmlformats.org/officeDocument/2006/relationships/notesMaster" Target="/ppt/notesMasters/notesMaster1.xml" Id="R27abdfc088244c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20be6e0c994dca" /><Relationship Type="http://schemas.openxmlformats.org/officeDocument/2006/relationships/notesMaster" Target="/ppt/notesMasters/notesMaster1.xml" Id="R130f8e7902b643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d97138ae534901" /><Relationship Type="http://schemas.openxmlformats.org/officeDocument/2006/relationships/notesMaster" Target="/ppt/notesMasters/notesMaster1.xml" Id="Rc50a334ddd194d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3473a141484839" /><Relationship Type="http://schemas.openxmlformats.org/officeDocument/2006/relationships/notesMaster" Target="/ppt/notesMasters/notesMaster1.xml" Id="Rde15986f134b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2f4da0a75b47d7" /><Relationship Type="http://schemas.openxmlformats.org/officeDocument/2006/relationships/notesMaster" Target="/ppt/notesMasters/notesMaster1.xml" Id="R66249109d8804d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3bc2e6a6434b8c" /><Relationship Type="http://schemas.openxmlformats.org/officeDocument/2006/relationships/notesMaster" Target="/ppt/notesMasters/notesMaster1.xml" Id="R87c822314b094a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d606bc2204cb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3727120e0294687" /><Relationship Type="http://schemas.openxmlformats.org/officeDocument/2006/relationships/slideLayout" Target="/ppt/slideLayouts/slideLayout2.xml" Id="Rbcecaf52622443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ecaf52622443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4ac1e62f4a437f" /><Relationship Type="http://schemas.openxmlformats.org/officeDocument/2006/relationships/image" Target="/ppt/media/image.jpeg" Id="R0cfa5faeea844a47" /><Relationship Type="http://schemas.openxmlformats.org/officeDocument/2006/relationships/notesSlide" Target="/ppt/notesSlides/notesSlide1.xml" Id="R0e04a9cb8e5b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ab3f23db054a36" /><Relationship Type="http://schemas.openxmlformats.org/officeDocument/2006/relationships/notesSlide" Target="/ppt/notesSlides/notesSlide2.xml" Id="R9f6dde2883264a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9d2c7f75e44d55" /><Relationship Type="http://schemas.openxmlformats.org/officeDocument/2006/relationships/notesSlide" Target="/ppt/notesSlides/notesSlide3.xml" Id="R7a652eb6127348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4987af69004f5d" /><Relationship Type="http://schemas.openxmlformats.org/officeDocument/2006/relationships/notesSlide" Target="/ppt/notesSlides/notesSlide4.xml" Id="Rda39ccb1bb0c4e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73ae5399294fd6" /><Relationship Type="http://schemas.openxmlformats.org/officeDocument/2006/relationships/notesSlide" Target="/ppt/notesSlides/notesSlide5.xml" Id="R677d433c127641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5eacc1bd464889" /><Relationship Type="http://schemas.openxmlformats.org/officeDocument/2006/relationships/notesSlide" Target="/ppt/notesSlides/notesSlide6.xml" Id="R611a1266435a4e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a07b5453d44507" /><Relationship Type="http://schemas.openxmlformats.org/officeDocument/2006/relationships/notesSlide" Target="/ppt/notesSlides/notesSlide7.xml" Id="Rb21dafd587304e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9E816-A5A5-4DFC-963F-5024CDB0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"/>
            <a:ext cx="941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A3 | Algoritmos | Checkpoint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D0204-96DC-4DB2-849F-D829173C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94107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162338"/>
                </a:solidFill>
              </a:defRPr>
            </a:pPr>
            <a:r>
              <a:rPr sz="7050" b="1">
                <a:solidFill>
                  <a:srgbClr val="162338"/>
                </a:solidFill>
              </a:rPr>
              <a:t>Mob10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3C323-7A76-499C-A182-C80A208E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676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2338"/>
                </a:solidFill>
              </a:defRPr>
            </a:pPr>
            <a:r>
              <a:rPr sz="2250" b="0">
                <a:solidFill>
                  <a:srgbClr val="162338"/>
                </a:solidFill>
              </a:rPr>
              <a:t>Estrutura parcial do sistema em Java para um aplicativo de transporte acessível.</a:t>
            </a:r>
          </a:p>
        </p:txBody>
      </p:sp>
      <p:pic>
        <p:nvPicPr>
          <p:cNvPr id="4" name="mob10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a5faeea844a47"/>
          <a:stretch xmlns:a="http://schemas.openxmlformats.org/drawingml/2006/main"/>
        </p:blipFill>
        <p:spPr>
          <a:xfrm xmlns:a="http://schemas.openxmlformats.org/drawingml/2006/main">
            <a:off x="10836211" y="142494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A9A98-9346-44D5-A783-66ED326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211" y="5753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C9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087E0-8227-4439-B5DE-8322434F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8483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69C3A-480D-4A4D-A7B4-BDB35BE3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715000"/>
            <a:ext cx="590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8"/>
                </a:solidFill>
              </a:defRPr>
            </a:pPr>
            <a:r>
              <a:rPr sz="1800" b="1">
                <a:solidFill>
                  <a:srgbClr val="162338"/>
                </a:solidFill>
              </a:rPr>
              <a:t>Cadastro dos usuários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881BD-93DD-4E8D-8BD1-346A4AF7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0198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697A"/>
                </a:solidFill>
              </a:defRPr>
            </a:pPr>
            <a:r>
              <a:rPr sz="1425" b="0">
                <a:solidFill>
                  <a:srgbClr val="5E697A"/>
                </a:solidFill>
              </a:rPr>
              <a:t>Passageiro e motorista com encapsulamento completo.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EAED7-E94B-4E41-BF39-20F2B34E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389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2E4C9-118E-46F2-ABBB-0F58AD83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211" y="7048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14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03978-BFE8-4A0A-884A-2BFB41D4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1437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696D6-CC2A-4A6F-835C-03744CB1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010400"/>
            <a:ext cx="590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8"/>
                </a:solidFill>
              </a:defRPr>
            </a:pPr>
            <a:r>
              <a:rPr sz="1800" b="1">
                <a:solidFill>
                  <a:srgbClr val="162338"/>
                </a:solidFill>
              </a:rPr>
              <a:t>Solicitação e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9775A-29EC-4303-8474-E9A74AF4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3152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697A"/>
                </a:solidFill>
              </a:defRPr>
            </a:pPr>
            <a:r>
              <a:rPr sz="1425" b="0">
                <a:solidFill>
                  <a:srgbClr val="5E697A"/>
                </a:solidFill>
              </a:rPr>
              <a:t>Fluxo básico de corrida com motorista compatível.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B7E6C-BE72-4561-89A4-7EC69AE6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77343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21933-3A8F-4665-A4B0-49AE9D01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211" y="8362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D66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C262B-77BE-4ACB-A42F-2C38174D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84582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1B811-7E6E-4D63-9A46-BD655375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324850"/>
            <a:ext cx="590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8"/>
                </a:solidFill>
              </a:defRPr>
            </a:pPr>
            <a:r>
              <a:rPr sz="1800" b="1">
                <a:solidFill>
                  <a:srgbClr val="162338"/>
                </a:solidFill>
              </a:rPr>
              <a:t>Pagamento e avaliação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7DFBA-B05A-4943-9873-B813AEA5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6296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697A"/>
                </a:solidFill>
              </a:defRPr>
            </a:pPr>
            <a:r>
              <a:rPr sz="1425" b="0">
                <a:solidFill>
                  <a:srgbClr val="5E697A"/>
                </a:solidFill>
              </a:rPr>
              <a:t>Serviços com ArrayList e demonstração executável.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8ACD8-0488-4B05-ADC5-546C719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88011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E697A"/>
                </a:solidFill>
              </a:defRPr>
            </a:pPr>
            <a:r>
              <a:rPr sz="1950" b="0">
                <a:solidFill>
                  <a:srgbClr val="5E697A"/>
                </a:solidFill>
              </a:rPr>
              <a:t>Projeto criado para reduzir a dificuldade de locomoção de cadeirantes, idosos e pessoas em recuperação médica, com foco em autonomia, inclusão e previsibilidade do transporte.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C4EE5-EA12-4BBD-8ABE-50C53D5F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813274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9344B-F3B1-4A70-8472-90EE1696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958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Mobilidade reduzida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2E260-1465-4257-845A-15585E5A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74" y="4400550"/>
            <a:ext cx="1357027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D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659BB-7E6F-49AE-AC57-0A7E0E0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9580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Acessibilidade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09719-AD86-4B90-ABC4-EA86B3E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301" y="4400550"/>
            <a:ext cx="165373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7DB11-A24D-4D33-AA93-8E48A953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958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Código organizado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1330F-3BE6-4EE4-97EC-DDDFA9BF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91600"/>
            <a:ext cx="941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Integrantes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1A6CB-65BB-4D79-8012-2B8BB7B4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941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338"/>
                </a:solidFill>
              </a:defRPr>
            </a:pPr>
            <a:r>
              <a:rPr sz="1500" b="0">
                <a:solidFill>
                  <a:srgbClr val="162338"/>
                </a:solidFill>
              </a:rPr>
              <a:t>Elizeu Martins Euzebio | Enrique Salviato Sanchez</a:t>
            </a:r>
          </a:p>
        </p:txBody>
      </p:sp>
    </p:spTree>
    <p:extLst>
      <p:ext uri="{BB962C8B-B14F-4D97-AF65-F5344CB8AC3E}">
        <p14:creationId xmlns:p14="http://schemas.microsoft.com/office/powerpoint/2010/main" val="698337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02C04-3B71-44F7-99EB-781E2732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Contexto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08B44-82D5-418F-85AE-33F84E58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164592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2338"/>
                </a:solidFill>
              </a:defRPr>
            </a:pPr>
            <a:r>
              <a:rPr sz="4800" b="1">
                <a:solidFill>
                  <a:srgbClr val="162338"/>
                </a:solidFill>
              </a:rPr>
              <a:t>Problema e proposta de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1E902-666B-4588-8D7B-48CB2CD0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7658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338"/>
                </a:solidFill>
              </a:defRPr>
            </a:pPr>
            <a:r>
              <a:rPr sz="3600" b="1">
                <a:solidFill>
                  <a:srgbClr val="162338"/>
                </a:solidFill>
              </a:rPr>
              <a:t>Transporte acessível não pode depender de improviso.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CF2B4-537F-49C3-8B57-D5474FC2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7334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97A"/>
                </a:solidFill>
              </a:defRPr>
            </a:pPr>
            <a:r>
              <a:rPr sz="1875" b="0">
                <a:solidFill>
                  <a:srgbClr val="5E697A"/>
                </a:solidFill>
              </a:rPr>
              <a:t>O Mob10 foi pensado como um aplicativo semelhante ao Uber, porém totalmente voltado para pessoas com mobilidade reduzida. A ideia central é conectar passageiros a motoristas e veículos compatíveis com suas necessidades.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98506-6624-49B3-AC9F-9E39B0F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8690"/>
            <a:ext cx="118291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9F996-6E84-4707-A48C-4FD2C419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577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Cadeirantes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32ECF-F823-4882-B23A-4D6BCBA2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610" y="4758690"/>
            <a:ext cx="801815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D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729EF-A180-4A5E-8E64-FE5A2CD2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Idosos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3875E-CA65-4DC4-8466-9D27AA03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724" y="4758690"/>
            <a:ext cx="1808512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A6CEB-2702-42BB-B36F-DAB3F1EC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5775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Recuperação médica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68F36-5B59-4865-9703-A83E891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5740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D66"/>
                </a:solidFill>
              </a:defRPr>
            </a:pPr>
            <a:r>
              <a:rPr sz="1650" b="1">
                <a:solidFill>
                  <a:srgbClr val="1E6D66"/>
                </a:solidFill>
              </a:rPr>
              <a:t>Quem é impactado positivamente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8C0A3-360D-4EDB-9152-451ACBFB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52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E05F3-0DF1-4189-99FA-DD975887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955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Passageiros com mais autonomia e segurança.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EE231-AE22-48CA-A774-A50B056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90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E0850-9D07-46E1-ABDD-7CCCB400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3370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Motoristas parceiros com nova fonte de renda.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926D6-2A8C-4EAE-BF31-EF0EDA66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5F34C-9086-476F-9680-D1DF56C4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718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Sociedade com maior inclusão social.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7D392-3FF2-48F2-A47C-3F80F21B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290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03C41-68F1-45B9-B0A4-47EE7B2E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1955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D66"/>
                </a:solidFill>
              </a:defRPr>
            </a:pPr>
            <a:r>
              <a:rPr sz="1650" b="1">
                <a:solidFill>
                  <a:srgbClr val="1E6D66"/>
                </a:solidFill>
              </a:rPr>
              <a:t>Valor da proposta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57DF9-3B7C-4337-91A1-CA85F52D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38650"/>
            <a:ext cx="7315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7A"/>
                </a:solidFill>
              </a:defRPr>
            </a:pPr>
            <a:r>
              <a:rPr sz="1650" b="0">
                <a:solidFill>
                  <a:srgbClr val="5E697A"/>
                </a:solidFill>
              </a:rPr>
              <a:t>Cadastro de usuários, registro de veículos adaptados, solicitação de corridas, pagamento e avaliação em uma única base orientada a objetos.</a:t>
            </a:r>
          </a:p>
        </p:txBody>
      </p:sp>
    </p:spTree>
    <p:extLst>
      <p:ext uri="{BB962C8B-B14F-4D97-AF65-F5344CB8AC3E}">
        <p14:creationId xmlns:p14="http://schemas.microsoft.com/office/powerpoint/2010/main" val="937932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83457E-D05A-41CA-8230-BED69D26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Entrega mínima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E4929-2965-4970-BE05-B2F4AA0F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164592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2338"/>
                </a:solidFill>
              </a:defRPr>
            </a:pPr>
            <a:r>
              <a:rPr sz="4800" b="1">
                <a:solidFill>
                  <a:srgbClr val="162338"/>
                </a:solidFill>
              </a:rPr>
              <a:t>Objetivo do checkpoint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0BE45-733B-4B6F-8C86-439F2FDE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6419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2338"/>
                </a:solidFill>
              </a:defRPr>
            </a:pPr>
            <a:r>
              <a:rPr sz="3450" b="1">
                <a:solidFill>
                  <a:srgbClr val="162338"/>
                </a:solidFill>
              </a:rPr>
              <a:t>Entregar a base técnica pronta para crescer.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2D252-DB13-4553-A4A1-C7CC9D29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327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C9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38533-B65C-4A1F-93C4-7E148726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07FFB-7302-4FE7-B124-61957EB3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8"/>
                </a:solidFill>
              </a:defRPr>
            </a:pPr>
            <a:r>
              <a:rPr sz="1800" b="1">
                <a:solidFill>
                  <a:srgbClr val="162338"/>
                </a:solidFill>
              </a:rPr>
              <a:t>Estrutura em pacotes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BFEAC-0CF6-44EB-8267-BC438D5E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697A"/>
                </a:solidFill>
              </a:defRPr>
            </a:pPr>
            <a:r>
              <a:rPr sz="1575" b="0">
                <a:solidFill>
                  <a:srgbClr val="5E697A"/>
                </a:solidFill>
              </a:rPr>
              <a:t>Organização do projeto em model, service e 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B58B1-DDA1-48DB-952F-0E4768B2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527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C9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13917-B7B0-4E19-85ED-3EC84602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F65EC-0B78-41C3-AA3D-8D7BEB59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8"/>
                </a:solidFill>
              </a:defRPr>
            </a:pPr>
            <a:r>
              <a:rPr sz="1800" b="1">
                <a:solidFill>
                  <a:srgbClr val="162338"/>
                </a:solidFill>
              </a:rPr>
              <a:t>Orientação a objetos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730DD-1C64-4C71-B655-360BC143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697A"/>
                </a:solidFill>
              </a:defRPr>
            </a:pPr>
            <a:r>
              <a:rPr sz="1575" b="0">
                <a:solidFill>
                  <a:srgbClr val="5E697A"/>
                </a:solidFill>
              </a:rPr>
              <a:t>Atributos privados, construtores, getters, setters e toString().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D9165-3BB2-4D0C-AFB8-CCB7BA84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727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C9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02949-CA65-41EA-95BD-0AA73EC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CAD5F-D083-4EE7-B320-1BC1492C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8"/>
                </a:solidFill>
              </a:defRPr>
            </a:pPr>
            <a:r>
              <a:rPr sz="1800" b="1">
                <a:solidFill>
                  <a:srgbClr val="162338"/>
                </a:solidFill>
              </a:rPr>
              <a:t>Serviços com listas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D7A4E-BB25-47FB-987F-82CC5D68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697A"/>
                </a:solidFill>
              </a:defRPr>
            </a:pPr>
            <a:r>
              <a:rPr sz="1575" b="0">
                <a:solidFill>
                  <a:srgbClr val="5E697A"/>
                </a:solidFill>
              </a:rPr>
              <a:t>Uso de ArrayList para armazenar e manipular os objetos do sistema.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55893-B9DC-49E9-83E0-FA5E5EE2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927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C9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A1175-E291-4457-81F1-0D3259B8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769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21669-73BB-41C3-90D1-59279EA9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8"/>
                </a:solidFill>
              </a:defRPr>
            </a:pPr>
            <a:r>
              <a:rPr sz="1800" b="1">
                <a:solidFill>
                  <a:srgbClr val="162338"/>
                </a:solidFill>
              </a:rPr>
              <a:t>Documentação inicial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9DCFB-58B3-4C46-995A-F2932D2E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697A"/>
                </a:solidFill>
              </a:defRPr>
            </a:pPr>
            <a:r>
              <a:rPr sz="1575" b="0">
                <a:solidFill>
                  <a:srgbClr val="5E697A"/>
                </a:solidFill>
              </a:rPr>
              <a:t>README.md com descrição do projeto e instruções básicas de execução.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A86E6-A77B-4492-8FB8-7E31D1F5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3835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D66"/>
                </a:solidFill>
              </a:defRPr>
            </a:pPr>
            <a:r>
              <a:rPr sz="1650" b="1">
                <a:solidFill>
                  <a:srgbClr val="1E6D66"/>
                </a:solidFill>
              </a:rPr>
              <a:t>Formato de entrega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BC945-9DD5-4D33-B323-A477157D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5695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338"/>
                </a:solidFill>
              </a:defRPr>
            </a:pPr>
            <a:r>
              <a:rPr sz="2100" b="0">
                <a:solidFill>
                  <a:srgbClr val="162338"/>
                </a:solidFill>
              </a:rPr>
              <a:t>Repositório GitHub com código parcial e link enviado no Ulife.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06D43-A41E-43D1-801A-7023940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C95F5-3CBF-4DDC-887D-A9617092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2425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D66"/>
                </a:solidFill>
              </a:defRPr>
            </a:pPr>
            <a:r>
              <a:rPr sz="1650" b="1">
                <a:solidFill>
                  <a:srgbClr val="1E6D66"/>
                </a:solidFill>
              </a:rPr>
              <a:t>Resultado alcançado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DE3D3F-6774-4652-BD25-FCE32668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62400"/>
            <a:ext cx="5581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E697A"/>
                </a:solidFill>
              </a:defRPr>
            </a:pPr>
            <a:r>
              <a:rPr sz="1800" b="0">
                <a:solidFill>
                  <a:srgbClr val="5E697A"/>
                </a:solidFill>
              </a:rPr>
              <a:t>Projeto compilável, pacotes organizados, classes do domínio implementadas e uma Main demonstrando o fluxo inicial do sistema.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A52D0-0382-4A37-8629-FF1BBF79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845" y="4979670"/>
            <a:ext cx="1346454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D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25C0E-2BF9-4A17-BAA1-C3968D1B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08635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Código parcial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E4872-E446-4738-B636-A0601E2A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9599" y="4979670"/>
            <a:ext cx="1193006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D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A02146-E13A-4085-8BE8-C4A5BB55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0863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Base pronta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659C85-822D-494D-9EA0-3D0D7EA9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6905" y="4979670"/>
            <a:ext cx="2186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AFF98-BA07-43F1-AA89-CF9DE2E3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08635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Expansão no checkpoint 3</a:t>
            </a:r>
          </a:p>
        </p:txBody>
      </p:sp>
    </p:spTree>
    <p:extLst>
      <p:ext uri="{BB962C8B-B14F-4D97-AF65-F5344CB8AC3E}">
        <p14:creationId xmlns:p14="http://schemas.microsoft.com/office/powerpoint/2010/main" val="580098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C8CD5A-F6E0-487A-A7BE-E77ABE68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Organização do 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DBD2F-3FF2-4B60-B1CA-257A5F2D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164592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2338"/>
                </a:solidFill>
              </a:defRPr>
            </a:pPr>
            <a:r>
              <a:rPr sz="4800" b="1">
                <a:solidFill>
                  <a:srgbClr val="162338"/>
                </a:solidFill>
              </a:rPr>
              <a:t>Arquitetura implementada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90428-D4C9-4C45-BDF4-FC6AACCF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2160"/>
            <a:ext cx="883253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10D6C-51B4-4D77-ABD6-E7CD9A9E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6D66"/>
                </a:solidFill>
              </a:defRPr>
            </a:pPr>
            <a:r>
              <a:rPr sz="1500" b="1">
                <a:solidFill>
                  <a:srgbClr val="1E6D66"/>
                </a:solidFill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2128B-B11F-42A8-A474-00A775EF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5276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338"/>
                </a:solidFill>
              </a:defRPr>
            </a:pPr>
            <a:r>
              <a:rPr sz="1650" b="0">
                <a:solidFill>
                  <a:srgbClr val="162338"/>
                </a:solidFill>
              </a:rPr>
              <a:t>Camada responsável pelas entidades centrais do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F031B-4FCD-491A-A033-B1D9333F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527685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Usuario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Motorista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Passageiro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Veiculo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CarroComum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CarroAdaptado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Van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Corrida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Pagamento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Avaliacao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Regiao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58347-C78E-4F12-9171-451277A7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2042160"/>
            <a:ext cx="934974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ACC61-8E3F-448E-AA96-AB3368EB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6D66"/>
                </a:solidFill>
              </a:defRPr>
            </a:pPr>
            <a:r>
              <a:rPr sz="1500" b="1">
                <a:solidFill>
                  <a:srgbClr val="1E6D66"/>
                </a:solidFill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E9D85-2248-4348-AC6E-71E5263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5276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338"/>
                </a:solidFill>
              </a:defRPr>
            </a:pPr>
            <a:r>
              <a:rPr sz="1650" b="0">
                <a:solidFill>
                  <a:srgbClr val="162338"/>
                </a:solidFill>
              </a:rPr>
              <a:t>Camada com regras básicas e armazenamento em listas.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ADD2A-82C9-47C7-B027-78917F76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5276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UsuarioService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CorridaService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PagamentoService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AvaliacaoService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15BCA-B17A-4739-8CEC-17701283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042160"/>
            <a:ext cx="754856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9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B1E91-C10D-4244-8D9D-4C8AEAD4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1526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6D66"/>
                </a:solidFill>
              </a:defRPr>
            </a:pPr>
            <a:r>
              <a:rPr sz="1500" b="1">
                <a:solidFill>
                  <a:srgbClr val="1E6D66"/>
                </a:solidFill>
              </a:rPr>
              <a:t>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9A8E0-9B37-490E-A14E-4EA379B7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667000"/>
            <a:ext cx="5276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338"/>
                </a:solidFill>
              </a:defRPr>
            </a:pPr>
            <a:r>
              <a:rPr sz="1650" b="0">
                <a:solidFill>
                  <a:srgbClr val="162338"/>
                </a:solidFill>
              </a:rPr>
              <a:t>Camada de execução inicial para demonstrar o funcionamento.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7D596-5232-4C62-8330-7FEC5880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352800"/>
            <a:ext cx="52768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Cadastro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Solicitação de corrida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Match de motorista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Pagamento</a:t>
            </a:r>
          </a:p>
          <a:p xmlns:a="http://schemas.openxmlformats.org/drawingml/2006/main">
            <a:pPr>
              <a:defRPr sz="1500" b="0">
                <a:solidFill>
                  <a:srgbClr val="5E697A"/>
                </a:solidFill>
              </a:defRPr>
            </a:pPr>
            <a:r>
              <a:rPr sz="1500" b="0">
                <a:solidFill>
                  <a:srgbClr val="5E697A"/>
                </a:solidFill>
              </a:rPr>
              <a:t>Avaliação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17CF1-B8D4-4AE0-9436-940285AA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821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58A66-C531-4542-B545-F13AA856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338"/>
                </a:solidFill>
              </a:defRPr>
            </a:pPr>
            <a:r>
              <a:rPr sz="1650" b="0">
                <a:solidFill>
                  <a:srgbClr val="162338"/>
                </a:solidFill>
              </a:rPr>
              <a:t>Heranças implementadas: Usuario -&gt; Motorista e Passageiro | Veiculo -&gt; CarroComum, CarroAdaptado e Van.</a:t>
            </a:r>
          </a:p>
        </p:txBody>
      </p:sp>
    </p:spTree>
    <p:extLst>
      <p:ext uri="{BB962C8B-B14F-4D97-AF65-F5344CB8AC3E}">
        <p14:creationId xmlns:p14="http://schemas.microsoft.com/office/powerpoint/2010/main" val="12292827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C08DCA-92AE-452A-94F5-71AF3975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Demonstração atual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07D37-718A-461E-9A53-14183C73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164592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2338"/>
                </a:solidFill>
              </a:defRPr>
            </a:pPr>
            <a:r>
              <a:rPr sz="4800" b="1">
                <a:solidFill>
                  <a:srgbClr val="162338"/>
                </a:solidFill>
              </a:rPr>
              <a:t>Fluxo básico já validado na aplicação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91B8F-86B4-4996-A461-35A03167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145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D6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038EB-0CF6-4D7A-B734-673A8476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28850"/>
            <a:ext cx="114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A7CCD-9CFC-41B1-8EAD-76D90DAE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81300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38"/>
                </a:solidFill>
              </a:defRPr>
            </a:pPr>
            <a:r>
              <a:rPr sz="1650" b="1">
                <a:solidFill>
                  <a:srgbClr val="162338"/>
                </a:solidFill>
              </a:rPr>
              <a:t>Cadastro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61571-D820-44F9-AB23-3EDC947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2133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697A"/>
                </a:solidFill>
              </a:defRPr>
            </a:pPr>
            <a:r>
              <a:rPr sz="1425" b="0">
                <a:solidFill>
                  <a:srgbClr val="5E697A"/>
                </a:solidFill>
              </a:rPr>
              <a:t>Usuários e região são criados com construtores.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F0445-87E8-49EB-BB2E-58FA4B64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ADCAF-22F0-458F-BEF5-E3257F66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145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D6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16F6B-AE3D-4030-A969-D7A9A546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28850"/>
            <a:ext cx="114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1D7CD-577C-44C7-93F2-FC926D80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81300"/>
            <a:ext cx="91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38"/>
                </a:solidFill>
              </a:defRPr>
            </a:pPr>
            <a:r>
              <a:rPr sz="1650" b="1">
                <a:solidFill>
                  <a:srgbClr val="162338"/>
                </a:solidFill>
              </a:rPr>
              <a:t>Solicitação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F19A4-FD5A-46B9-A81F-D08719A3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62300"/>
            <a:ext cx="2171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697A"/>
                </a:solidFill>
              </a:defRPr>
            </a:pPr>
            <a:r>
              <a:rPr sz="1425" b="0">
                <a:solidFill>
                  <a:srgbClr val="5E697A"/>
                </a:solidFill>
              </a:rPr>
              <a:t>O passageiro solicita a corrida pelo serviço.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910A6-229C-42F1-BF63-FA1FAD5D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06094-96EB-4456-866E-77F50B28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D6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BF935-79C4-451D-9A24-73119DDF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F8323-1665-4669-AAF0-3E3B165D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38"/>
                </a:solidFill>
              </a:defRPr>
            </a:pPr>
            <a:r>
              <a:rPr sz="1650" b="1">
                <a:solidFill>
                  <a:srgbClr val="162338"/>
                </a:solidFill>
              </a:rPr>
              <a:t>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AC7C8-325F-4F78-88FB-988F476D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62300"/>
            <a:ext cx="2362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697A"/>
                </a:solidFill>
              </a:defRPr>
            </a:pPr>
            <a:r>
              <a:rPr sz="1425" b="0">
                <a:solidFill>
                  <a:srgbClr val="5E697A"/>
                </a:solidFill>
              </a:rPr>
              <a:t>Um motorista compatível aceita a corrida.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99D35-3554-4273-ADE2-083ACAF0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CA0D3-7F2E-49F1-ADE0-5D15142C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1145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D66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989CE-420F-4D85-9CB2-896A654C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228850"/>
            <a:ext cx="114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1EBB9-9CC2-4174-A98B-B385D8FD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781300"/>
            <a:ext cx="99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38"/>
                </a:solidFill>
              </a:defRPr>
            </a:pPr>
            <a:r>
              <a:rPr sz="1650" b="1">
                <a:solidFill>
                  <a:srgbClr val="162338"/>
                </a:solidFill>
              </a:rPr>
              <a:t>Pagamento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D2FD8-1D6D-4248-91C0-4E1E286D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62300"/>
            <a:ext cx="1752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697A"/>
                </a:solidFill>
              </a:defRPr>
            </a:pPr>
            <a:r>
              <a:rPr sz="1425" b="0">
                <a:solidFill>
                  <a:srgbClr val="5E697A"/>
                </a:solidFill>
              </a:rPr>
              <a:t>O valor é processado no PagamentoService.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8AA49-1A29-495F-87E2-EFA110F1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8575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2B607-A016-4F69-84A6-0855CC04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21145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D66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0BF010-B82D-4428-AF13-1326C699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2228850"/>
            <a:ext cx="114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447A9-B97A-4D0D-B64E-9640551D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2781300"/>
            <a:ext cx="83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38"/>
                </a:solidFill>
              </a:defRPr>
            </a:pPr>
            <a:r>
              <a:rPr sz="1650" b="1">
                <a:solidFill>
                  <a:srgbClr val="162338"/>
                </a:solidFill>
              </a:rPr>
              <a:t>Avaliação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C9A6F-56E3-44A8-A91E-BF921F7A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162300"/>
            <a:ext cx="2057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697A"/>
                </a:solidFill>
              </a:defRPr>
            </a:pPr>
            <a:r>
              <a:rPr sz="1425" b="0">
                <a:solidFill>
                  <a:srgbClr val="5E697A"/>
                </a:solidFill>
              </a:rPr>
              <a:t>O passageiro registra nota e comentário.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9C7DBB-C45A-4E9F-8229-A62B9A99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116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Esse fluxo está representado na Main, que compila e executa sem erros, servindo como prova funcional do checkpoint 2.</a:t>
            </a:r>
          </a:p>
        </p:txBody>
      </p:sp>
    </p:spTree>
    <p:extLst>
      <p:ext uri="{BB962C8B-B14F-4D97-AF65-F5344CB8AC3E}">
        <p14:creationId xmlns:p14="http://schemas.microsoft.com/office/powerpoint/2010/main" val="805349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4C50B9-6ED3-4F80-B605-800C5CB8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Validação do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48ED5-854F-47FD-BF0A-75A772C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164592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2338"/>
                </a:solidFill>
              </a:defRPr>
            </a:pPr>
            <a:r>
              <a:rPr sz="4800" b="1">
                <a:solidFill>
                  <a:srgbClr val="162338"/>
                </a:solidFill>
              </a:rPr>
              <a:t>Checklist atendido no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55190-69A4-4B6A-BF02-41F7D394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DD978-4536-4F96-B2D9-6EFFF76C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784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Pacotes model, service e view criados.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78993-AAA0-4628-B69A-25E8FBC7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D39D7-C558-42DE-B2A1-206B612A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784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Atributos privados em todas as classes.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CE627-AF61-4010-B87E-3FA0D009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D4C63-0E7A-46C8-AFAC-19E87CB8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52750"/>
            <a:ext cx="784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Construtores para inicialização dos objetos.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C0333-D9D9-44BB-B26E-2CA1960B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42EDD-08AC-45AB-9995-780388F8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784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Getters e setters implementados.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ABAD0-F468-4A72-B071-CD0079F9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40324-59B8-4769-A31C-882DFAA3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784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Método toString() sobrescrito.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CCE61-2F45-444F-AAC9-A0580D18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73998-26B5-424E-A255-B80B5246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784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ArrayList declarado nos serviços.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F43DF-0928-4D8E-AC9C-991DD2E9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6A0E1-ADFE-4A16-B510-6835AF90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784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README.md com descrição do projeto.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54E83-3A9F-4550-8F55-C01CA988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C9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CE16D-3DC6-420D-AE25-9B41A8B9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784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338"/>
                </a:solidFill>
              </a:defRPr>
            </a:pPr>
            <a:r>
              <a:rPr sz="1800" b="0">
                <a:solidFill>
                  <a:srgbClr val="162338"/>
                </a:solidFill>
              </a:rPr>
              <a:t>Main funcional para demonstração.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36F55-A6AA-495A-851F-668A5C99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57400"/>
            <a:ext cx="7791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D66"/>
                </a:solidFill>
              </a:defRPr>
            </a:pPr>
            <a:r>
              <a:rPr sz="1650" b="1">
                <a:solidFill>
                  <a:srgbClr val="1E6D66"/>
                </a:solidFill>
              </a:rPr>
              <a:t>Evidências rápidas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6E763-08DD-4F4B-86B9-AEFE581C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14600"/>
            <a:ext cx="377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E6D66"/>
                </a:solidFill>
              </a:defRPr>
            </a:pPr>
            <a:r>
              <a:rPr sz="5100" b="1">
                <a:solidFill>
                  <a:srgbClr val="1E6D66"/>
                </a:solidFill>
              </a:rPr>
              <a:t>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0D5F7-8B2A-49F2-83DF-FDC8B02D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33750"/>
            <a:ext cx="377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338"/>
                </a:solidFill>
              </a:defRPr>
            </a:pPr>
            <a:r>
              <a:rPr sz="1575" b="0">
                <a:solidFill>
                  <a:srgbClr val="162338"/>
                </a:solidFill>
              </a:rPr>
              <a:t>classes de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5E4381-2B63-4A59-8D83-D89FD9BD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514600"/>
            <a:ext cx="377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E6D66"/>
                </a:solidFill>
              </a:defRPr>
            </a:pPr>
            <a:r>
              <a:rPr sz="5100" b="1">
                <a:solidFill>
                  <a:srgbClr val="1E6D6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9F507-EB0F-48B8-A0DE-D477FAFB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333750"/>
            <a:ext cx="377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338"/>
                </a:solidFill>
              </a:defRPr>
            </a:pPr>
            <a:r>
              <a:rPr sz="1575" b="0">
                <a:solidFill>
                  <a:srgbClr val="162338"/>
                </a:solidFill>
              </a:rPr>
              <a:t>services com ArrayList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A6D8C-833E-4852-A52F-B43EB2DD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52850"/>
            <a:ext cx="377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E6D66"/>
                </a:solidFill>
              </a:defRPr>
            </a:pPr>
            <a:r>
              <a:rPr sz="5100" b="1">
                <a:solidFill>
                  <a:srgbClr val="1E6D66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09602-691A-49A8-A490-C78B2EF9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72000"/>
            <a:ext cx="377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338"/>
                </a:solidFill>
              </a:defRPr>
            </a:pPr>
            <a:r>
              <a:rPr sz="1575" b="0">
                <a:solidFill>
                  <a:srgbClr val="162338"/>
                </a:solidFill>
              </a:rPr>
              <a:t>pacotes principais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F1B64-E36F-4D7C-B5E8-2043D11B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752850"/>
            <a:ext cx="377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E6D66"/>
                </a:solidFill>
              </a:defRPr>
            </a:pPr>
            <a:r>
              <a:rPr sz="5100" b="1">
                <a:solidFill>
                  <a:srgbClr val="1E6D66"/>
                </a:solidFill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6BC7A9-1980-41AB-A811-098AC4F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572000"/>
            <a:ext cx="377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338"/>
                </a:solidFill>
              </a:defRPr>
            </a:pPr>
            <a:r>
              <a:rPr sz="1575" b="0">
                <a:solidFill>
                  <a:srgbClr val="162338"/>
                </a:solidFill>
              </a:rPr>
              <a:t>fluxo executável na Main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0C63BE-3A16-4B2F-8F7C-29C9952B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01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7FA36E-F984-49C4-84BC-8DB2B283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38750"/>
            <a:ext cx="7791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D66"/>
                </a:solidFill>
              </a:defRPr>
            </a:pPr>
            <a:r>
              <a:rPr sz="1650" b="1">
                <a:solidFill>
                  <a:srgbClr val="1E6D66"/>
                </a:solidFill>
              </a:rPr>
              <a:t>Observação operacional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CC525E-29D9-4577-81CA-6B258ECD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695950"/>
            <a:ext cx="6076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7A"/>
                </a:solidFill>
              </a:defRPr>
            </a:pPr>
            <a:r>
              <a:rPr sz="1650" b="0">
                <a:solidFill>
                  <a:srgbClr val="5E697A"/>
                </a:solidFill>
              </a:rPr>
              <a:t>README pronto e repositório local inicializado. Para a entrega final, falta apenas publicar o remoto GitHub em modo público e enviar o link.</a:t>
            </a:r>
          </a:p>
        </p:txBody>
      </p:sp>
    </p:spTree>
    <p:extLst>
      <p:ext uri="{BB962C8B-B14F-4D97-AF65-F5344CB8AC3E}">
        <p14:creationId xmlns:p14="http://schemas.microsoft.com/office/powerpoint/2010/main" val="540637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C96EF-D9A6-43E1-BA09-6212A2FA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D66"/>
                </a:solidFill>
              </a:defRPr>
            </a:pPr>
            <a:r>
              <a:rPr sz="1350" b="1">
                <a:solidFill>
                  <a:srgbClr val="1E6D66"/>
                </a:solidFill>
              </a:rPr>
              <a:t>Continuidade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90F5B-CE9A-4B4D-BEAA-7E9A4700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164592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2338"/>
                </a:solidFill>
              </a:defRPr>
            </a:pPr>
            <a:r>
              <a:rPr sz="4800" b="1">
                <a:solidFill>
                  <a:srgbClr val="162338"/>
                </a:solidFill>
              </a:rPr>
              <a:t>Próximos passos para o checkpoint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59A6A-32D5-48DA-AAB0-039C4823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026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D6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67AB4-4EB9-47C8-B056-EC8F7DA8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2E3C7-E952-4349-8BD9-3E319375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527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8"/>
                </a:solidFill>
              </a:defRPr>
            </a:pPr>
            <a:r>
              <a:rPr sz="1800" b="1">
                <a:solidFill>
                  <a:srgbClr val="162338"/>
                </a:solidFill>
              </a:rPr>
              <a:t>Regras de negócio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5CE9B-0F0F-46A4-8613-A6A5CC1C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5276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7A"/>
                </a:solidFill>
              </a:defRPr>
            </a:pPr>
            <a:r>
              <a:rPr sz="1650" b="0">
                <a:solidFill>
                  <a:srgbClr val="5E697A"/>
                </a:solidFill>
              </a:rPr>
              <a:t>Expandir validações, status de corrida, cálculo de valor e critérios de compatibilidade.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E72CB-7EF3-4062-9DE3-156611AC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208026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14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DDAC1-0E4B-4FF8-ADB4-599E5C67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717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D2277-0584-4304-B991-00DFCBA8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527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8"/>
                </a:solidFill>
              </a:defRPr>
            </a:pPr>
            <a:r>
              <a:rPr sz="1800" b="1">
                <a:solidFill>
                  <a:srgbClr val="162338"/>
                </a:solidFill>
              </a:rPr>
              <a:t>Interface de uso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59FA0-4F2D-4FEC-9C0E-1D85FA42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5276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7A"/>
                </a:solidFill>
              </a:defRPr>
            </a:pPr>
            <a:r>
              <a:rPr sz="1650" b="0">
                <a:solidFill>
                  <a:srgbClr val="5E697A"/>
                </a:solidFill>
              </a:rPr>
              <a:t>Criar menus, entradas de dados e interações mais completas para demonstrar o sistema.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D0428-582F-4087-9B91-A5AB363B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08026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C9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0E45D-594B-4BD5-86FB-F759AF6A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1717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5797A-8D56-4309-A6A0-AF043C86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686050"/>
            <a:ext cx="527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8"/>
                </a:solidFill>
              </a:defRPr>
            </a:pPr>
            <a:r>
              <a:rPr sz="1800" b="1">
                <a:solidFill>
                  <a:srgbClr val="162338"/>
                </a:solidFill>
              </a:rPr>
              <a:t>Entrega final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DDC85-933D-4134-96EC-876B8639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124200"/>
            <a:ext cx="5276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7A"/>
                </a:solidFill>
              </a:defRPr>
            </a:pPr>
            <a:r>
              <a:rPr sz="1650" b="0">
                <a:solidFill>
                  <a:srgbClr val="5E697A"/>
                </a:solidFill>
              </a:rPr>
              <a:t>Publicar no GitHub público, evoluir o código e preparar a apresentação final do projeto.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2AB52-ED02-4924-8D83-F9D73A79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0487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D3536-D38A-46F4-BF23-DFE935D6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82100"/>
            <a:ext cx="16459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6D66"/>
                </a:solidFill>
              </a:defRPr>
            </a:pPr>
            <a:r>
              <a:rPr sz="2550" b="1">
                <a:solidFill>
                  <a:srgbClr val="1E6D66"/>
                </a:solidFill>
              </a:rPr>
              <a:t>Checkpoint 2 concluído com base estruturada, compilável e pronta para evolução.</a:t>
            </a:r>
          </a:p>
        </p:txBody>
      </p:sp>
    </p:spTree>
    <p:extLst>
      <p:ext uri="{BB962C8B-B14F-4D97-AF65-F5344CB8AC3E}">
        <p14:creationId xmlns:p14="http://schemas.microsoft.com/office/powerpoint/2010/main" val="459068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2026-04-28T01:51:43.1860000Z</dcterms:created>
  <dcterms:modified xsi:type="dcterms:W3CDTF">2026-04-28T01:51:43.1860000Z</dcterms:modified>
</coreProperties>
</file>